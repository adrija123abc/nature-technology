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321A9-5EC7-3135-4669-9C07A87BF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43D58-6AC8-AFD0-F5C7-0E54EBE81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D85E4-F970-5F18-D2EC-617709EE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41A87-1062-08E7-9A18-DE5F6C43F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F3C8E-A697-8F29-867A-AEAEC0863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81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4D54-3346-FEE6-B7B8-14707B497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C7CC-6B04-81FD-3FD1-EF7BFCAA3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559A4-A082-C1BF-B17B-FE891F58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C9102-E499-5B72-5170-F39F1BCF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51D75-B929-8981-AE35-61508C61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65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87D58-300E-0074-8BFE-D0ECED35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5047B-EE1B-C986-A3AD-2BDA868AC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84773-C5FD-E7A9-A182-65A70EABC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EFD72-F905-BE71-FA1D-BC65C255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D1CAF-EF2E-469D-74AB-565F924D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32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A3344-3010-577C-4011-338630CF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077C4-B14C-A76B-0614-C1429BFE2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2AFAF-4AA5-1C4F-7849-0139B15BA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115FD-3EF2-0B97-3ECC-A352557B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972C3-A54D-BC1E-04C4-7B8A6E9E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B2886-59CD-9C7D-B159-ED01EA95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666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C78B-2703-F308-A6D0-9AAD90A76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B94C0-10F5-108C-06E0-743896739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04F75-8132-623F-C7FD-9E269AE5F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238D9-14CF-E1E2-1723-CE01F8ED5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40659-1A62-FF09-9130-A12D5A91A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8E911-627C-7669-936C-DB174B2D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3DFFD-0A87-0D4E-6227-BBC9700C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BAE978-F904-3EE6-2850-18EFB7DE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62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2269-9E27-5A43-379A-B4E1BC80E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A3A8B-64EB-00C8-EEE5-2B96796F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0315D-05E0-B2CB-FC1C-1CBE54A1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17AB0-56E3-336A-DDDE-0F060D5E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66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86729-B987-9540-4674-2274CF5CF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F9CE5-9682-ED2B-9C90-F3BD1B4A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D06BE-EAAB-EADE-F110-887BFE87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883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2821-5C53-F39E-9C19-411FEB544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C92AD-8EA5-1353-2049-674FB1692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FB848-0F18-9844-EC6B-A992D1785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9FFA-3B28-040F-9DE1-34ABAF9B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C638D-44CD-BD4F-3DFA-231E397D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098F2-77A3-2C81-3538-9F24D0D5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04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AB44-6711-DCAE-9BC3-A66D7A0D0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C0DCF-5823-F050-2944-190DEF292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6FD62-4538-7315-1D8E-B94F5D3E7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39C3F-A750-53D1-8EF6-FC4A7B83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AE5CB-59C3-032A-FD16-879C76B0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31DE4-D87C-214A-2DB4-9E925E17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3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A9FD-FD49-50DF-0B9C-C68EE270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A5EB9-DFAB-B542-6800-B0FB67CD1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F4214-D701-8D37-38CA-277180BE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382B6-D890-46FB-CA02-F4D8C9382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C3093-5BEF-9059-8D66-1BE45DCA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86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0ECE1-5F9F-BAE8-3906-292EF96E5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CA1CA-9310-B4B9-9954-9635A94AB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4E907-C1A4-07EF-728D-32BF2F269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D369D-6C14-12EC-3376-77B7FC06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AD3BC-6B86-F290-BA7A-8237985D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40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D48D4-F7FF-ACBB-591F-5640FB5B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685F8-EF8E-D216-F954-497BB9BDC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9AC8-EB7A-66BE-EA09-90B0CB5EF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6781F-5F8E-4C49-B63B-A88609D82C3F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0E4A9-D84B-3EC8-F8B2-E50934B20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DFA76-0134-905A-CAEE-FB3E32C71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2BC03-8ADE-4A4D-90C8-35A385B10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076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A051ED-BD7C-5AB5-DAB9-7E82B0F10093}"/>
              </a:ext>
            </a:extLst>
          </p:cNvPr>
          <p:cNvSpPr txBox="1"/>
          <p:nvPr/>
        </p:nvSpPr>
        <p:spPr>
          <a:xfrm>
            <a:off x="121920" y="612844"/>
            <a:ext cx="117246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effectLst/>
              </a:rPr>
              <a:t>1. Manufacturing Plants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Detect fires from overheating machinery or electrical faults.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emissions from furnaces and boilers to comply with air quality standards.</a:t>
            </a:r>
          </a:p>
          <a:p>
            <a:pPr>
              <a:buNone/>
            </a:pPr>
            <a:r>
              <a:rPr lang="en-US" sz="2400" b="1" dirty="0"/>
              <a:t>2. </a:t>
            </a:r>
            <a:r>
              <a:rPr lang="en-US" sz="2400" b="1" dirty="0">
                <a:effectLst/>
              </a:rPr>
              <a:t>Chemical Industry</a:t>
            </a: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Identify toxic gas leaks (e.g., chlorine, ammonia) before they spread.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Prevent explosions by detecting combustible vapors early.</a:t>
            </a:r>
          </a:p>
          <a:p>
            <a:pPr>
              <a:buNone/>
            </a:pPr>
            <a:r>
              <a:rPr lang="en-US" sz="2400" b="1" dirty="0">
                <a:effectLst/>
              </a:rPr>
              <a:t>3. Oil &amp; Gas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smoke and hydrocarbon emissions at refineries.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Detect fires in offshore rigs and pipelines to avoid catastrophic accidents.</a:t>
            </a:r>
          </a:p>
          <a:p>
            <a:pPr>
              <a:buNone/>
            </a:pPr>
            <a:r>
              <a:rPr lang="en-US" sz="2400" b="1" dirty="0">
                <a:effectLst/>
              </a:rPr>
              <a:t>4. Mining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Detect harmful gases like carbon monoxide and methane underground.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Provide early warning of fires in coal mines.</a:t>
            </a:r>
          </a:p>
          <a:p>
            <a:pPr>
              <a:buNone/>
            </a:pPr>
            <a:r>
              <a:rPr lang="en-US" sz="2400" b="1" dirty="0">
                <a:effectLst/>
              </a:rPr>
              <a:t>5. Power Plants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smoke from turbines, boilers, and generators.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Ensure emissions meet environmental regulations.</a:t>
            </a:r>
          </a:p>
        </p:txBody>
      </p:sp>
    </p:spTree>
    <p:extLst>
      <p:ext uri="{BB962C8B-B14F-4D97-AF65-F5344CB8AC3E}">
        <p14:creationId xmlns:p14="http://schemas.microsoft.com/office/powerpoint/2010/main" val="405745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CE2126-0504-792F-F121-D387BBBC315F}"/>
              </a:ext>
            </a:extLst>
          </p:cNvPr>
          <p:cNvSpPr txBox="1"/>
          <p:nvPr/>
        </p:nvSpPr>
        <p:spPr>
          <a:xfrm>
            <a:off x="137160" y="612844"/>
            <a:ext cx="119176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effectLst/>
              </a:rPr>
              <a:t>6. Food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Detect smoke from ovens or dryers to prevent contamination.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air quality in packaging areas for worker safety.</a:t>
            </a:r>
          </a:p>
          <a:p>
            <a:pPr>
              <a:buNone/>
            </a:pPr>
            <a:r>
              <a:rPr lang="en-US" sz="2400" b="1" dirty="0">
                <a:effectLst/>
              </a:rPr>
              <a:t>7. Pharmaceutical 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Maintain sterile environments by monitoring air pollutants.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Detect smoke from chemical reactions or equipment malfunctions.</a:t>
            </a:r>
          </a:p>
          <a:p>
            <a:pPr>
              <a:buNone/>
            </a:pPr>
            <a:r>
              <a:rPr lang="en-US" sz="2400" b="1" dirty="0">
                <a:effectLst/>
              </a:rPr>
              <a:t>8. Textile 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Prevent fires from lint accumulation in spinning/weaving machines.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air quality to reduce worker respiratory issues.</a:t>
            </a:r>
          </a:p>
          <a:p>
            <a:pPr>
              <a:buNone/>
            </a:pPr>
            <a:r>
              <a:rPr lang="en-US" sz="2400" b="1" dirty="0">
                <a:effectLst/>
              </a:rPr>
              <a:t>9. Automotive 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Detect smoke from welding and painting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emissions in testing labs for compliance.</a:t>
            </a:r>
          </a:p>
          <a:p>
            <a:pPr>
              <a:buNone/>
            </a:pPr>
            <a:r>
              <a:rPr lang="en-US" sz="2400" b="1" dirty="0">
                <a:effectLst/>
              </a:rPr>
              <a:t>10. Electronics Manufacturing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Protect sensitive equipment from smoke particles.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Detect fires from soldering stations or circuit boards.</a:t>
            </a:r>
          </a:p>
        </p:txBody>
      </p:sp>
    </p:spTree>
    <p:extLst>
      <p:ext uri="{BB962C8B-B14F-4D97-AF65-F5344CB8AC3E}">
        <p14:creationId xmlns:p14="http://schemas.microsoft.com/office/powerpoint/2010/main" val="4218312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021EC4-F5B7-F39A-C2C3-5BB8A1F50918}"/>
              </a:ext>
            </a:extLst>
          </p:cNvPr>
          <p:cNvSpPr txBox="1"/>
          <p:nvPr/>
        </p:nvSpPr>
        <p:spPr>
          <a:xfrm>
            <a:off x="147320" y="612844"/>
            <a:ext cx="107391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effectLst/>
              </a:rPr>
              <a:t>11. Warehouses &amp; Logistics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Early fire detection in storage facilities.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pollution levels in enclosed spaces with forklifts.</a:t>
            </a:r>
          </a:p>
          <a:p>
            <a:pPr>
              <a:buNone/>
            </a:pPr>
            <a:r>
              <a:rPr lang="en-US" sz="2400" b="1" dirty="0">
                <a:effectLst/>
              </a:rPr>
              <a:t>12. Construction Sites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Detect smoke from welding and cutting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dust and particulate pollution for worker health.</a:t>
            </a:r>
          </a:p>
          <a:p>
            <a:pPr>
              <a:buNone/>
            </a:pPr>
            <a:r>
              <a:rPr lang="en-US" sz="2400" b="1" dirty="0">
                <a:effectLst/>
              </a:rPr>
              <a:t>13. Steel &amp; Metal 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Detect fires in blast furnaces and rolling mills.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emissions of particulates and gases.</a:t>
            </a:r>
          </a:p>
          <a:p>
            <a:pPr>
              <a:buNone/>
            </a:pPr>
            <a:r>
              <a:rPr lang="en-US" sz="2400" b="1" dirty="0">
                <a:effectLst/>
              </a:rPr>
              <a:t>14. Paper &amp; Pulp 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Prevent fires in drying machines.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emissions from chemical pulping processes.</a:t>
            </a:r>
          </a:p>
          <a:p>
            <a:pPr>
              <a:buNone/>
            </a:pPr>
            <a:r>
              <a:rPr lang="en-US" sz="2400" b="1" dirty="0">
                <a:effectLst/>
              </a:rPr>
              <a:t>15. Plastic &amp; Rubber 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Detect smoke from molding and extrusion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Monitor toxic fumes from burning plastics.</a:t>
            </a:r>
          </a:p>
        </p:txBody>
      </p:sp>
    </p:spTree>
    <p:extLst>
      <p:ext uri="{BB962C8B-B14F-4D97-AF65-F5344CB8AC3E}">
        <p14:creationId xmlns:p14="http://schemas.microsoft.com/office/powerpoint/2010/main" val="2218248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64E4EE-A241-5672-ADBC-B3607597E4FE}"/>
              </a:ext>
            </a:extLst>
          </p:cNvPr>
          <p:cNvSpPr txBox="1"/>
          <p:nvPr/>
        </p:nvSpPr>
        <p:spPr>
          <a:xfrm>
            <a:off x="152400" y="612844"/>
            <a:ext cx="112369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effectLst/>
              </a:rPr>
              <a:t>16. Aerospace 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Detect smoke in aircraft assembly plants.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Monitor emissions during engine testing.</a:t>
            </a:r>
          </a:p>
          <a:p>
            <a:pPr>
              <a:buNone/>
            </a:pPr>
            <a:r>
              <a:rPr lang="en-IN" sz="2400" b="1" dirty="0">
                <a:effectLst/>
              </a:rPr>
              <a:t>17. Semiconductor 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Protect cleanrooms from smoke contamination.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Detect fires in chemical vapor deposition chambers.</a:t>
            </a:r>
          </a:p>
          <a:p>
            <a:pPr>
              <a:buNone/>
            </a:pPr>
            <a:r>
              <a:rPr lang="en-IN" sz="2400" b="1" dirty="0">
                <a:effectLst/>
              </a:rPr>
              <a:t>18. Cement 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Monitor dust and particulate emissions.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Detect fires in kilns and grinding units.</a:t>
            </a:r>
          </a:p>
          <a:p>
            <a:pPr>
              <a:buNone/>
            </a:pPr>
            <a:r>
              <a:rPr lang="en-IN" sz="2400" b="1" dirty="0">
                <a:effectLst/>
              </a:rPr>
              <a:t>19. Shipbuilding &amp; Marine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Detect fires during welding and painting.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Monitor emissions from ship engines.</a:t>
            </a:r>
          </a:p>
          <a:p>
            <a:pPr>
              <a:buNone/>
            </a:pPr>
            <a:r>
              <a:rPr lang="en-IN" sz="2400" b="1" dirty="0">
                <a:effectLst/>
              </a:rPr>
              <a:t>20. Hospitals &amp; Labs (Industrial-scale)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Detect smoke in sterilization units.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Monitor air quality in labs handling chemicals.</a:t>
            </a:r>
          </a:p>
        </p:txBody>
      </p:sp>
    </p:spTree>
    <p:extLst>
      <p:ext uri="{BB962C8B-B14F-4D97-AF65-F5344CB8AC3E}">
        <p14:creationId xmlns:p14="http://schemas.microsoft.com/office/powerpoint/2010/main" val="424941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5495D-0842-C36D-82E0-909A2C4DEF24}"/>
              </a:ext>
            </a:extLst>
          </p:cNvPr>
          <p:cNvSpPr txBox="1"/>
          <p:nvPr/>
        </p:nvSpPr>
        <p:spPr>
          <a:xfrm>
            <a:off x="142240" y="612844"/>
            <a:ext cx="107391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effectLst/>
              </a:rPr>
              <a:t>21. Data </a:t>
            </a:r>
            <a:r>
              <a:rPr lang="en-IN" sz="2400" b="1" dirty="0" err="1">
                <a:effectLst/>
              </a:rPr>
              <a:t>Centers</a:t>
            </a:r>
            <a:endParaRPr lang="en-IN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Detect smoke from overheating servers.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Monitor air quality to protect sensitive electronics.</a:t>
            </a:r>
          </a:p>
          <a:p>
            <a:pPr>
              <a:buNone/>
            </a:pPr>
            <a:r>
              <a:rPr lang="en-IN" sz="2400" b="1" dirty="0">
                <a:effectLst/>
              </a:rPr>
              <a:t>22. Railways &amp; Metro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Detect smoke in tunnels and stations.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Monitor emissions from locomotives.</a:t>
            </a:r>
          </a:p>
          <a:p>
            <a:pPr>
              <a:buNone/>
            </a:pPr>
            <a:r>
              <a:rPr lang="en-IN" sz="2400" b="1" dirty="0">
                <a:effectLst/>
              </a:rPr>
              <a:t>23. Agriculture &amp; Agro-industries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Detect fires in grain silos.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Monitor pesticide-related air pollution.</a:t>
            </a:r>
          </a:p>
          <a:p>
            <a:pPr>
              <a:buNone/>
            </a:pPr>
            <a:r>
              <a:rPr lang="en-IN" sz="2400" b="1" dirty="0">
                <a:effectLst/>
              </a:rPr>
              <a:t>24. Plastic Recycling Plants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Detect toxic smoke during melting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Monitor emissions for environmental compliance.</a:t>
            </a:r>
          </a:p>
          <a:p>
            <a:pPr>
              <a:buNone/>
            </a:pPr>
            <a:r>
              <a:rPr lang="en-IN" sz="2400" b="1" dirty="0">
                <a:effectLst/>
              </a:rPr>
              <a:t>25. Smart Industrial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Integrated IoT-based detectors for real-time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Automated alerts and shutdown systems to prevent disasters.</a:t>
            </a:r>
          </a:p>
        </p:txBody>
      </p:sp>
    </p:spTree>
    <p:extLst>
      <p:ext uri="{BB962C8B-B14F-4D97-AF65-F5344CB8AC3E}">
        <p14:creationId xmlns:p14="http://schemas.microsoft.com/office/powerpoint/2010/main" val="2647544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0BC869-D993-EEE5-4E99-19DF22D88459}"/>
              </a:ext>
            </a:extLst>
          </p:cNvPr>
          <p:cNvSpPr txBox="1"/>
          <p:nvPr/>
        </p:nvSpPr>
        <p:spPr>
          <a:xfrm>
            <a:off x="91440" y="197346"/>
            <a:ext cx="1271016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#include &lt;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Arduino.h</a:t>
            </a:r>
            <a:r>
              <a:rPr lang="en-IN" dirty="0">
                <a:effectLst/>
                <a:latin typeface="Courier New" panose="02070309020205020404" pitchFamily="49" charset="0"/>
              </a:rPr>
              <a:t>&gt;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#define SMOKE_PIN A0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#define AIR_PIN A1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#define BUZZER_PIN 9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#define FAN_PIN 8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#define LED_PIN 7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#define AVG_SIZE 32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#define SAMPLE_DELAY_MS 50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smokeBuf</a:t>
            </a:r>
            <a:r>
              <a:rPr lang="en-IN" dirty="0">
                <a:effectLst/>
                <a:latin typeface="Courier New" panose="02070309020205020404" pitchFamily="49" charset="0"/>
              </a:rPr>
              <a:t>[AVG_SIZE],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airBuf</a:t>
            </a:r>
            <a:r>
              <a:rPr lang="en-IN" dirty="0">
                <a:effectLst/>
                <a:latin typeface="Courier New" panose="02070309020205020404" pitchFamily="49" charset="0"/>
              </a:rPr>
              <a:t>[AVG_SIZE];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int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idx</a:t>
            </a:r>
            <a:r>
              <a:rPr lang="en-IN" dirty="0">
                <a:effectLst/>
                <a:latin typeface="Courier New" panose="02070309020205020404" pitchFamily="49" charset="0"/>
              </a:rPr>
              <a:t> = 0;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smokeSum</a:t>
            </a:r>
            <a:r>
              <a:rPr lang="en-IN" dirty="0">
                <a:effectLst/>
                <a:latin typeface="Courier New" panose="02070309020205020404" pitchFamily="49" charset="0"/>
              </a:rPr>
              <a:t> = 0,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airSum</a:t>
            </a:r>
            <a:r>
              <a:rPr lang="en-IN" dirty="0">
                <a:effectLst/>
                <a:latin typeface="Courier New" panose="02070309020205020404" pitchFamily="49" charset="0"/>
              </a:rPr>
              <a:t> = 0;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smokeBaseline</a:t>
            </a:r>
            <a:r>
              <a:rPr lang="en-IN" dirty="0">
                <a:effectLst/>
                <a:latin typeface="Courier New" panose="02070309020205020404" pitchFamily="49" charset="0"/>
              </a:rPr>
              <a:t> = 0,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airBaseline</a:t>
            </a:r>
            <a:r>
              <a:rPr lang="en-IN" dirty="0">
                <a:effectLst/>
                <a:latin typeface="Courier New" panose="02070309020205020404" pitchFamily="49" charset="0"/>
              </a:rPr>
              <a:t> = 0;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mapf</a:t>
            </a:r>
            <a:r>
              <a:rPr lang="en-IN" dirty="0">
                <a:effectLst/>
                <a:latin typeface="Courier New" panose="02070309020205020404" pitchFamily="49" charset="0"/>
              </a:rPr>
              <a:t>(float x,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in_min</a:t>
            </a:r>
            <a:r>
              <a:rPr lang="en-IN" dirty="0">
                <a:effectLst/>
                <a:latin typeface="Courier New" panose="02070309020205020404" pitchFamily="49" charset="0"/>
              </a:rPr>
              <a:t>,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in_max</a:t>
            </a:r>
            <a:r>
              <a:rPr lang="en-IN" dirty="0">
                <a:effectLst/>
                <a:latin typeface="Courier New" panose="02070309020205020404" pitchFamily="49" charset="0"/>
              </a:rPr>
              <a:t>,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out_min</a:t>
            </a:r>
            <a:r>
              <a:rPr lang="en-IN" dirty="0">
                <a:effectLst/>
                <a:latin typeface="Courier New" panose="02070309020205020404" pitchFamily="49" charset="0"/>
              </a:rPr>
              <a:t>,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out_max</a:t>
            </a:r>
            <a:r>
              <a:rPr lang="en-IN" dirty="0">
                <a:effectLst/>
                <a:latin typeface="Courier New" panose="02070309020205020404" pitchFamily="49" charset="0"/>
              </a:rPr>
              <a:t>) {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return (x -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in_min</a:t>
            </a:r>
            <a:r>
              <a:rPr lang="en-IN" dirty="0">
                <a:effectLst/>
                <a:latin typeface="Courier New" panose="02070309020205020404" pitchFamily="49" charset="0"/>
              </a:rPr>
              <a:t>) * 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out_max</a:t>
            </a:r>
            <a:r>
              <a:rPr lang="en-IN" dirty="0">
                <a:effectLst/>
                <a:latin typeface="Courier New" panose="02070309020205020404" pitchFamily="49" charset="0"/>
              </a:rPr>
              <a:t> -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out_min</a:t>
            </a:r>
            <a:r>
              <a:rPr lang="en-IN" dirty="0">
                <a:effectLst/>
                <a:latin typeface="Courier New" panose="02070309020205020404" pitchFamily="49" charset="0"/>
              </a:rPr>
              <a:t>) / 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in_max</a:t>
            </a:r>
            <a:r>
              <a:rPr lang="en-IN" dirty="0">
                <a:effectLst/>
                <a:latin typeface="Courier New" panose="02070309020205020404" pitchFamily="49" charset="0"/>
              </a:rPr>
              <a:t> -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in_min</a:t>
            </a:r>
            <a:r>
              <a:rPr lang="en-IN" dirty="0">
                <a:effectLst/>
                <a:latin typeface="Courier New" panose="02070309020205020404" pitchFamily="49" charset="0"/>
              </a:rPr>
              <a:t>) +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out_min</a:t>
            </a:r>
            <a:r>
              <a:rPr lang="en-IN" dirty="0">
                <a:effectLst/>
                <a:latin typeface="Courier New" panose="02070309020205020404" pitchFamily="49" charset="0"/>
              </a:rPr>
              <a:t>;}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movingAvg</a:t>
            </a:r>
            <a:r>
              <a:rPr lang="en-IN" dirty="0">
                <a:effectLst/>
                <a:latin typeface="Courier New" panose="02070309020205020404" pitchFamily="49" charset="0"/>
              </a:rPr>
              <a:t>(float *</a:t>
            </a:r>
            <a:r>
              <a:rPr lang="en-IN" dirty="0" err="1">
                <a:effectLst/>
                <a:latin typeface="Courier New" panose="02070309020205020404" pitchFamily="49" charset="0"/>
              </a:rPr>
              <a:t>buf</a:t>
            </a:r>
            <a:r>
              <a:rPr lang="en-IN" dirty="0">
                <a:effectLst/>
                <a:latin typeface="Courier New" panose="02070309020205020404" pitchFamily="49" charset="0"/>
              </a:rPr>
              <a:t>, float *sum,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val</a:t>
            </a:r>
            <a:r>
              <a:rPr lang="en-IN" dirty="0">
                <a:effectLst/>
                <a:latin typeface="Courier New" panose="02070309020205020404" pitchFamily="49" charset="0"/>
              </a:rPr>
              <a:t>) {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*sum -=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buf</a:t>
            </a:r>
            <a:r>
              <a:rPr lang="en-IN" dirty="0">
                <a:effectLst/>
                <a:latin typeface="Courier New" panose="02070309020205020404" pitchFamily="49" charset="0"/>
              </a:rPr>
              <a:t>[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idx</a:t>
            </a:r>
            <a:r>
              <a:rPr lang="en-IN" dirty="0">
                <a:effectLst/>
                <a:latin typeface="Courier New" panose="02070309020205020404" pitchFamily="49" charset="0"/>
              </a:rPr>
              <a:t>];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buf</a:t>
            </a:r>
            <a:r>
              <a:rPr lang="en-IN" dirty="0">
                <a:effectLst/>
                <a:latin typeface="Courier New" panose="02070309020205020404" pitchFamily="49" charset="0"/>
              </a:rPr>
              <a:t>[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idx</a:t>
            </a:r>
            <a:r>
              <a:rPr lang="en-IN" dirty="0">
                <a:effectLst/>
                <a:latin typeface="Courier New" panose="02070309020205020404" pitchFamily="49" charset="0"/>
              </a:rPr>
              <a:t>] 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val</a:t>
            </a:r>
            <a:r>
              <a:rPr lang="en-IN" dirty="0">
                <a:effectLst/>
                <a:latin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*sum +=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val</a:t>
            </a:r>
            <a:r>
              <a:rPr lang="en-IN" dirty="0">
                <a:effectLst/>
                <a:latin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return *sum / AVG_SIZE;}</a:t>
            </a:r>
          </a:p>
        </p:txBody>
      </p:sp>
    </p:spTree>
    <p:extLst>
      <p:ext uri="{BB962C8B-B14F-4D97-AF65-F5344CB8AC3E}">
        <p14:creationId xmlns:p14="http://schemas.microsoft.com/office/powerpoint/2010/main" val="1357346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3291E6-51EF-8173-924E-5B884C1A671F}"/>
              </a:ext>
            </a:extLst>
          </p:cNvPr>
          <p:cNvSpPr txBox="1"/>
          <p:nvPr/>
        </p:nvSpPr>
        <p:spPr>
          <a:xfrm>
            <a:off x="304800" y="612844"/>
            <a:ext cx="100787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void calibrate(int samples, int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delayMs</a:t>
            </a:r>
            <a:r>
              <a:rPr lang="en-IN" dirty="0">
                <a:effectLst/>
                <a:latin typeface="Courier New" panose="02070309020205020404" pitchFamily="49" charset="0"/>
              </a:rPr>
              <a:t>) {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float s = 0, a = 0;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for (int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</a:t>
            </a:r>
            <a:r>
              <a:rPr lang="en-IN" dirty="0">
                <a:effectLst/>
                <a:latin typeface="Courier New" panose="02070309020205020404" pitchFamily="49" charset="0"/>
              </a:rPr>
              <a:t> = 0;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</a:t>
            </a:r>
            <a:r>
              <a:rPr lang="en-IN" dirty="0">
                <a:effectLst/>
                <a:latin typeface="Courier New" panose="02070309020205020404" pitchFamily="49" charset="0"/>
              </a:rPr>
              <a:t> &lt; samples;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</a:t>
            </a:r>
            <a:r>
              <a:rPr lang="en-IN" dirty="0">
                <a:effectLst/>
                <a:latin typeface="Courier New" panose="02070309020205020404" pitchFamily="49" charset="0"/>
              </a:rPr>
              <a:t>++) {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  s +=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analogRead</a:t>
            </a:r>
            <a:r>
              <a:rPr lang="en-IN" dirty="0">
                <a:effectLst/>
                <a:latin typeface="Courier New" panose="02070309020205020404" pitchFamily="49" charset="0"/>
              </a:rPr>
              <a:t>(SMOKE_PIN);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  a +=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analogRead</a:t>
            </a:r>
            <a:r>
              <a:rPr lang="en-IN" dirty="0">
                <a:effectLst/>
                <a:latin typeface="Courier New" panose="02070309020205020404" pitchFamily="49" charset="0"/>
              </a:rPr>
              <a:t>(AIR_PIN);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  delay(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delayMs</a:t>
            </a:r>
            <a:r>
              <a:rPr lang="en-IN" dirty="0">
                <a:effectLst/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}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smokeBaseline</a:t>
            </a:r>
            <a:r>
              <a:rPr lang="en-IN" dirty="0">
                <a:effectLst/>
                <a:latin typeface="Courier New" panose="02070309020205020404" pitchFamily="49" charset="0"/>
              </a:rPr>
              <a:t> = s / samples;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airBaseline</a:t>
            </a:r>
            <a:r>
              <a:rPr lang="en-IN" dirty="0">
                <a:effectLst/>
                <a:latin typeface="Courier New" panose="02070309020205020404" pitchFamily="49" charset="0"/>
              </a:rPr>
              <a:t> = a / samples;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void alert(bool state) {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digitalWrite</a:t>
            </a:r>
            <a:r>
              <a:rPr lang="en-IN" dirty="0">
                <a:effectLst/>
                <a:latin typeface="Courier New" panose="02070309020205020404" pitchFamily="49" charset="0"/>
              </a:rPr>
              <a:t>(LED_PIN, state ? HIGH : LOW);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digitalWrite</a:t>
            </a:r>
            <a:r>
              <a:rPr lang="en-IN" dirty="0">
                <a:effectLst/>
                <a:latin typeface="Courier New" panose="02070309020205020404" pitchFamily="49" charset="0"/>
              </a:rPr>
              <a:t>(FAN_PIN, state ? HIGH : LOW);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if (state) {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  tone(BUZZER_PIN, 2000, 150);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} else {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noTone</a:t>
            </a:r>
            <a:r>
              <a:rPr lang="en-IN" dirty="0">
                <a:effectLst/>
                <a:latin typeface="Courier New" panose="02070309020205020404" pitchFamily="49" charset="0"/>
              </a:rPr>
              <a:t>(BUZZER_PIN);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}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784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B9CFF5-D35A-57DF-0D0F-A773E04B1F32}"/>
              </a:ext>
            </a:extLst>
          </p:cNvPr>
          <p:cNvSpPr txBox="1"/>
          <p:nvPr/>
        </p:nvSpPr>
        <p:spPr>
          <a:xfrm>
            <a:off x="172720" y="197346"/>
            <a:ext cx="1040384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void setup() {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pinMode</a:t>
            </a:r>
            <a:r>
              <a:rPr lang="en-IN" dirty="0">
                <a:effectLst/>
                <a:latin typeface="Courier New" panose="02070309020205020404" pitchFamily="49" charset="0"/>
              </a:rPr>
              <a:t>(SMOKE_PIN, INPUT);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pinMode</a:t>
            </a:r>
            <a:r>
              <a:rPr lang="en-IN" dirty="0">
                <a:effectLst/>
                <a:latin typeface="Courier New" panose="02070309020205020404" pitchFamily="49" charset="0"/>
              </a:rPr>
              <a:t>(AIR_PIN, INPUT);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pinMode</a:t>
            </a:r>
            <a:r>
              <a:rPr lang="en-IN" dirty="0">
                <a:effectLst/>
                <a:latin typeface="Courier New" panose="02070309020205020404" pitchFamily="49" charset="0"/>
              </a:rPr>
              <a:t>(BUZZER_PIN, OUTPUT);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pinMode</a:t>
            </a:r>
            <a:r>
              <a:rPr lang="en-IN" dirty="0">
                <a:effectLst/>
                <a:latin typeface="Courier New" panose="02070309020205020404" pitchFamily="49" charset="0"/>
              </a:rPr>
              <a:t>(FAN_PIN, OUTPUT);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pinMode</a:t>
            </a:r>
            <a:r>
              <a:rPr lang="en-IN" dirty="0">
                <a:effectLst/>
                <a:latin typeface="Courier New" panose="02070309020205020404" pitchFamily="49" charset="0"/>
              </a:rPr>
              <a:t>(LED_PIN, OUTPUT);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Serial.begin</a:t>
            </a:r>
            <a:r>
              <a:rPr lang="en-IN" dirty="0">
                <a:effectLst/>
                <a:latin typeface="Courier New" panose="02070309020205020404" pitchFamily="49" charset="0"/>
              </a:rPr>
              <a:t>(9600);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for (int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</a:t>
            </a:r>
            <a:r>
              <a:rPr lang="en-IN" dirty="0">
                <a:effectLst/>
                <a:latin typeface="Courier New" panose="02070309020205020404" pitchFamily="49" charset="0"/>
              </a:rPr>
              <a:t> = 0;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</a:t>
            </a:r>
            <a:r>
              <a:rPr lang="en-IN" dirty="0">
                <a:effectLst/>
                <a:latin typeface="Courier New" panose="02070309020205020404" pitchFamily="49" charset="0"/>
              </a:rPr>
              <a:t> &lt; AVG_SIZE;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</a:t>
            </a:r>
            <a:r>
              <a:rPr lang="en-IN" dirty="0">
                <a:effectLst/>
                <a:latin typeface="Courier New" panose="02070309020205020404" pitchFamily="49" charset="0"/>
              </a:rPr>
              <a:t>++) {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smokeBuf</a:t>
            </a:r>
            <a:r>
              <a:rPr lang="en-IN" dirty="0">
                <a:effectLst/>
                <a:latin typeface="Courier New" panose="02070309020205020404" pitchFamily="49" charset="0"/>
              </a:rPr>
              <a:t>[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</a:t>
            </a:r>
            <a:r>
              <a:rPr lang="en-IN" dirty="0">
                <a:effectLst/>
                <a:latin typeface="Courier New" panose="02070309020205020404" pitchFamily="49" charset="0"/>
              </a:rPr>
              <a:t>] = 0;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airBuf</a:t>
            </a:r>
            <a:r>
              <a:rPr lang="en-IN" dirty="0">
                <a:effectLst/>
                <a:latin typeface="Courier New" panose="02070309020205020404" pitchFamily="49" charset="0"/>
              </a:rPr>
              <a:t>[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</a:t>
            </a:r>
            <a:r>
              <a:rPr lang="en-IN" dirty="0">
                <a:effectLst/>
                <a:latin typeface="Courier New" panose="02070309020205020404" pitchFamily="49" charset="0"/>
              </a:rPr>
              <a:t>] = 0;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}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calibrate(200, 10);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void loop() {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int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rawSmoke</a:t>
            </a:r>
            <a:r>
              <a:rPr lang="en-IN" dirty="0">
                <a:effectLst/>
                <a:latin typeface="Courier New" panose="02070309020205020404" pitchFamily="49" charset="0"/>
              </a:rPr>
              <a:t> 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analogRead</a:t>
            </a:r>
            <a:r>
              <a:rPr lang="en-IN" dirty="0">
                <a:effectLst/>
                <a:latin typeface="Courier New" panose="02070309020205020404" pitchFamily="49" charset="0"/>
              </a:rPr>
              <a:t>(SMOKE_PIN);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int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rawAir</a:t>
            </a:r>
            <a:r>
              <a:rPr lang="en-IN" dirty="0">
                <a:effectLst/>
                <a:latin typeface="Courier New" panose="02070309020205020404" pitchFamily="49" charset="0"/>
              </a:rPr>
              <a:t> 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analogRead</a:t>
            </a:r>
            <a:r>
              <a:rPr lang="en-IN" dirty="0">
                <a:effectLst/>
                <a:latin typeface="Courier New" panose="02070309020205020404" pitchFamily="49" charset="0"/>
              </a:rPr>
              <a:t>(AIR_PIN);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smokeRatio</a:t>
            </a:r>
            <a:r>
              <a:rPr lang="en-IN" dirty="0">
                <a:effectLst/>
                <a:latin typeface="Courier New" panose="02070309020205020404" pitchFamily="49" charset="0"/>
              </a:rPr>
              <a:t> = 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rawSmoke</a:t>
            </a:r>
            <a:r>
              <a:rPr lang="en-IN" dirty="0">
                <a:effectLst/>
                <a:latin typeface="Courier New" panose="02070309020205020404" pitchFamily="49" charset="0"/>
              </a:rPr>
              <a:t> -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smokeBaseline</a:t>
            </a:r>
            <a:r>
              <a:rPr lang="en-IN" dirty="0">
                <a:effectLst/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airRatio</a:t>
            </a:r>
            <a:r>
              <a:rPr lang="en-IN" dirty="0">
                <a:effectLst/>
                <a:latin typeface="Courier New" panose="02070309020205020404" pitchFamily="49" charset="0"/>
              </a:rPr>
              <a:t> = 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rawAir</a:t>
            </a:r>
            <a:r>
              <a:rPr lang="en-IN" dirty="0">
                <a:effectLst/>
                <a:latin typeface="Courier New" panose="02070309020205020404" pitchFamily="49" charset="0"/>
              </a:rPr>
              <a:t> -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airBaseline</a:t>
            </a:r>
            <a:r>
              <a:rPr lang="en-IN" dirty="0">
                <a:effectLst/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smokeAvg</a:t>
            </a:r>
            <a:r>
              <a:rPr lang="en-IN" dirty="0">
                <a:effectLst/>
                <a:latin typeface="Courier New" panose="02070309020205020404" pitchFamily="49" charset="0"/>
              </a:rPr>
              <a:t> 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movingAvg</a:t>
            </a:r>
            <a:r>
              <a:rPr lang="en-IN" dirty="0">
                <a:effectLst/>
                <a:latin typeface="Courier New" panose="02070309020205020404" pitchFamily="49" charset="0"/>
              </a:rPr>
              <a:t>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smokeBuf</a:t>
            </a:r>
            <a:r>
              <a:rPr lang="en-IN" dirty="0">
                <a:effectLst/>
                <a:latin typeface="Courier New" panose="02070309020205020404" pitchFamily="49" charset="0"/>
              </a:rPr>
              <a:t>, &amp;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smokeSum</a:t>
            </a:r>
            <a:r>
              <a:rPr lang="en-IN" dirty="0">
                <a:effectLst/>
                <a:latin typeface="Courier New" panose="02070309020205020404" pitchFamily="49" charset="0"/>
              </a:rPr>
              <a:t>,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smokeRatio</a:t>
            </a:r>
            <a:r>
              <a:rPr lang="en-IN" dirty="0">
                <a:effectLst/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airAvg</a:t>
            </a:r>
            <a:r>
              <a:rPr lang="en-IN" dirty="0">
                <a:effectLst/>
                <a:latin typeface="Courier New" panose="02070309020205020404" pitchFamily="49" charset="0"/>
              </a:rPr>
              <a:t> 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movingAvg</a:t>
            </a:r>
            <a:r>
              <a:rPr lang="en-IN" dirty="0">
                <a:effectLst/>
                <a:latin typeface="Courier New" panose="02070309020205020404" pitchFamily="49" charset="0"/>
              </a:rPr>
              <a:t>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airBuf</a:t>
            </a:r>
            <a:r>
              <a:rPr lang="en-IN" dirty="0">
                <a:effectLst/>
                <a:latin typeface="Courier New" panose="02070309020205020404" pitchFamily="49" charset="0"/>
              </a:rPr>
              <a:t>, &amp;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airSum</a:t>
            </a:r>
            <a:r>
              <a:rPr lang="en-IN" dirty="0">
                <a:effectLst/>
                <a:latin typeface="Courier New" panose="02070309020205020404" pitchFamily="49" charset="0"/>
              </a:rPr>
              <a:t>,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airRatio</a:t>
            </a:r>
            <a:r>
              <a:rPr lang="en-IN" dirty="0">
                <a:effectLst/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12752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3B825A-6FF9-104A-81EF-54B7B6137903}"/>
              </a:ext>
            </a:extLst>
          </p:cNvPr>
          <p:cNvSpPr txBox="1"/>
          <p:nvPr/>
        </p:nvSpPr>
        <p:spPr>
          <a:xfrm>
            <a:off x="264160" y="474345"/>
            <a:ext cx="849376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 err="1">
                <a:effectLst/>
                <a:latin typeface="Courier New" panose="02070309020205020404" pitchFamily="49" charset="0"/>
              </a:rPr>
              <a:t>idx</a:t>
            </a:r>
            <a:r>
              <a:rPr lang="en-IN" dirty="0">
                <a:effectLst/>
                <a:latin typeface="Courier New" panose="02070309020205020404" pitchFamily="49" charset="0"/>
              </a:rPr>
              <a:t> = 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idx</a:t>
            </a:r>
            <a:r>
              <a:rPr lang="en-IN" dirty="0">
                <a:effectLst/>
                <a:latin typeface="Courier New" panose="02070309020205020404" pitchFamily="49" charset="0"/>
              </a:rPr>
              <a:t> + 1) % AVG_SIZE;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smokeLevel</a:t>
            </a:r>
            <a:r>
              <a:rPr lang="en-IN" dirty="0">
                <a:effectLst/>
                <a:latin typeface="Courier New" panose="02070309020205020404" pitchFamily="49" charset="0"/>
              </a:rPr>
              <a:t> = constrain(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mapf</a:t>
            </a:r>
            <a:r>
              <a:rPr lang="en-IN" dirty="0">
                <a:effectLst/>
                <a:latin typeface="Courier New" panose="02070309020205020404" pitchFamily="49" charset="0"/>
              </a:rPr>
              <a:t>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smokeAvg</a:t>
            </a:r>
            <a:r>
              <a:rPr lang="en-IN" dirty="0">
                <a:effectLst/>
                <a:latin typeface="Courier New" panose="02070309020205020404" pitchFamily="49" charset="0"/>
              </a:rPr>
              <a:t>, 0, 400, 0, 100), 0, 100);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float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pmIndex</a:t>
            </a:r>
            <a:r>
              <a:rPr lang="en-IN" dirty="0">
                <a:effectLst/>
                <a:latin typeface="Courier New" panose="02070309020205020404" pitchFamily="49" charset="0"/>
              </a:rPr>
              <a:t> = constrain(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mapf</a:t>
            </a:r>
            <a:r>
              <a:rPr lang="en-IN" dirty="0">
                <a:effectLst/>
                <a:latin typeface="Courier New" panose="02070309020205020404" pitchFamily="49" charset="0"/>
              </a:rPr>
              <a:t>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airAvg</a:t>
            </a:r>
            <a:r>
              <a:rPr lang="en-IN" dirty="0">
                <a:effectLst/>
                <a:latin typeface="Courier New" panose="02070309020205020404" pitchFamily="49" charset="0"/>
              </a:rPr>
              <a:t>, 0, 600, 0, 500), 0, 500);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bool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smokeAlarm</a:t>
            </a:r>
            <a:r>
              <a:rPr lang="en-IN" dirty="0">
                <a:effectLst/>
                <a:latin typeface="Courier New" panose="02070309020205020404" pitchFamily="49" charset="0"/>
              </a:rPr>
              <a:t> 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smokeLevel</a:t>
            </a:r>
            <a:r>
              <a:rPr lang="en-IN" dirty="0">
                <a:effectLst/>
                <a:latin typeface="Courier New" panose="02070309020205020404" pitchFamily="49" charset="0"/>
              </a:rPr>
              <a:t> &gt; 35;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bool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airAlarm</a:t>
            </a:r>
            <a:r>
              <a:rPr lang="en-IN" dirty="0">
                <a:effectLst/>
                <a:latin typeface="Courier New" panose="02070309020205020404" pitchFamily="49" charset="0"/>
              </a:rPr>
              <a:t> =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pmIndex</a:t>
            </a:r>
            <a:r>
              <a:rPr lang="en-IN" dirty="0">
                <a:effectLst/>
                <a:latin typeface="Courier New" panose="02070309020205020404" pitchFamily="49" charset="0"/>
              </a:rPr>
              <a:t> &gt; 150;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alert(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smokeAlarm</a:t>
            </a:r>
            <a:r>
              <a:rPr lang="en-IN" dirty="0">
                <a:effectLst/>
                <a:latin typeface="Courier New" panose="02070309020205020404" pitchFamily="49" charset="0"/>
              </a:rPr>
              <a:t> ||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airAlarm</a:t>
            </a:r>
            <a:r>
              <a:rPr lang="en-IN" dirty="0">
                <a:effectLst/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Serial.print</a:t>
            </a:r>
            <a:r>
              <a:rPr lang="en-IN" dirty="0">
                <a:effectLst/>
                <a:latin typeface="Courier New" panose="02070309020205020404" pitchFamily="49" charset="0"/>
              </a:rPr>
              <a:t>("SMOKE_LEVEL:");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Serial.print</a:t>
            </a:r>
            <a:r>
              <a:rPr lang="en-IN" dirty="0">
                <a:effectLst/>
                <a:latin typeface="Courier New" panose="02070309020205020404" pitchFamily="49" charset="0"/>
              </a:rPr>
              <a:t>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smokeLevel</a:t>
            </a:r>
            <a:r>
              <a:rPr lang="en-IN" dirty="0">
                <a:effectLst/>
                <a:latin typeface="Courier New" panose="02070309020205020404" pitchFamily="49" charset="0"/>
              </a:rPr>
              <a:t>, 1);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Serial.print</a:t>
            </a:r>
            <a:r>
              <a:rPr lang="en-IN" dirty="0">
                <a:effectLst/>
                <a:latin typeface="Courier New" panose="02070309020205020404" pitchFamily="49" charset="0"/>
              </a:rPr>
              <a:t>(", PM_INDEX:");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Serial.print</a:t>
            </a:r>
            <a:r>
              <a:rPr lang="en-IN" dirty="0">
                <a:effectLst/>
                <a:latin typeface="Courier New" panose="02070309020205020404" pitchFamily="49" charset="0"/>
              </a:rPr>
              <a:t>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pmIndex</a:t>
            </a:r>
            <a:r>
              <a:rPr lang="en-IN" dirty="0">
                <a:effectLst/>
                <a:latin typeface="Courier New" panose="02070309020205020404" pitchFamily="49" charset="0"/>
              </a:rPr>
              <a:t>, 1);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Serial.print</a:t>
            </a:r>
            <a:r>
              <a:rPr lang="en-IN" dirty="0">
                <a:effectLst/>
                <a:latin typeface="Courier New" panose="02070309020205020404" pitchFamily="49" charset="0"/>
              </a:rPr>
              <a:t>(", ALARM:");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Serial.println</a:t>
            </a:r>
            <a:r>
              <a:rPr lang="en-IN" dirty="0">
                <a:effectLst/>
                <a:latin typeface="Courier New" panose="02070309020205020404" pitchFamily="49" charset="0"/>
              </a:rPr>
              <a:t>((</a:t>
            </a:r>
            <a:r>
              <a:rPr lang="en-IN" dirty="0" err="1">
                <a:effectLst/>
                <a:latin typeface="Courier New" panose="02070309020205020404" pitchFamily="49" charset="0"/>
              </a:rPr>
              <a:t>smokeAlarm</a:t>
            </a:r>
            <a:r>
              <a:rPr lang="en-IN" dirty="0">
                <a:effectLst/>
                <a:latin typeface="Courier New" panose="02070309020205020404" pitchFamily="49" charset="0"/>
              </a:rPr>
              <a:t> || </a:t>
            </a:r>
            <a:r>
              <a:rPr lang="en-IN" dirty="0" err="1">
                <a:effectLst/>
                <a:latin typeface="Courier New" panose="02070309020205020404" pitchFamily="49" charset="0"/>
              </a:rPr>
              <a:t>airAlarm</a:t>
            </a:r>
            <a:r>
              <a:rPr lang="en-IN" dirty="0">
                <a:effectLst/>
                <a:latin typeface="Courier New" panose="02070309020205020404" pitchFamily="49" charset="0"/>
              </a:rPr>
              <a:t>) ? 1 : 0);</a:t>
            </a:r>
          </a:p>
          <a:p>
            <a:pPr>
              <a:buNone/>
            </a:pPr>
            <a:endParaRPr lang="en-IN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  delay(SAMPLE_DELAY_MS);</a:t>
            </a:r>
          </a:p>
          <a:p>
            <a:pPr>
              <a:buNone/>
            </a:pPr>
            <a:r>
              <a:rPr lang="en-IN" dirty="0">
                <a:effectLst/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484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1165</Words>
  <Application>Microsoft Office PowerPoint</Application>
  <PresentationFormat>Widescreen</PresentationFormat>
  <Paragraphs>160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aritra koner</dc:creator>
  <cp:lastModifiedBy>aritra koner</cp:lastModifiedBy>
  <cp:revision>1</cp:revision>
  <dcterms:created xsi:type="dcterms:W3CDTF">2026-01-08T16:12:15Z</dcterms:created>
  <dcterms:modified xsi:type="dcterms:W3CDTF">2026-01-08T16:17:42Z</dcterms:modified>
</cp:coreProperties>
</file>